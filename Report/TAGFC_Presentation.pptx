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84" r:id="rId35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11274552" cy="64008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800">
                <a:solidFill>
                  <a:srgbClr val="FFFFFF"/>
                </a:solidFill>
                <a:latin typeface="Calibri"/>
              </a:rPr>
              <a:t>Attention-Guided Frequency-Domain
Counterfactual Explanations for
Transformer-Based Multivariate
Time-Series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700">
                <a:solidFill>
                  <a:srgbClr val="ADD8E6"/>
                </a:solidFill>
                <a:latin typeface="Calibri"/>
              </a:rPr>
              <a:t>Avinash Yadav (244101008)   |   Vaibhav Wankar (244101061)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500">
                <a:solidFill>
                  <a:srgbClr val="ADD8E6"/>
                </a:solidFill>
                <a:latin typeface="Calibri"/>
              </a:rPr>
              <a:t>Guide: Dr. Rashmi Dutta Baruah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CCDDEE"/>
                </a:solidFill>
                <a:latin typeface="Calibri"/>
              </a:rPr>
              <a:t>Department of Computer Science &amp; Engineering
Indian Institute of Technology Guwahati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99BBDD"/>
                </a:solidFill>
                <a:latin typeface="Calibri"/>
              </a:rPr>
              <a:t>M.Tech Thesis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075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3167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653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Problem Statement &amp; Research Gaps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39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0487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14015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Related Work — Existing 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79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5351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9626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Datasets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50215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112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TAGFC Methodology — 5-Step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23360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05079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0599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Experimental Results: AQI India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72000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5994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08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Experimental Results: NATOPS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20640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48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572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Comparison &amp; Statistical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669279"/>
            <a:ext cx="411480" cy="38404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6967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0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705855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700">
                <a:solidFill>
                  <a:srgbClr val="333333"/>
                </a:solidFill>
                <a:latin typeface="Calibri"/>
              </a:rPr>
              <a:t>Conclusions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ADD8E6"/>
                </a:solidFill>
                <a:latin typeface="Calibri"/>
              </a:rPr>
              <a:t>Why do we need counterfactual explanations for time-series classifiers?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3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4864" cy="5029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5B96"/>
                </a:solidFill>
                <a:latin typeface="Calibri"/>
              </a:rPr>
              <a:t>Critical-domain deployment: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50">
                <a:solidFill>
                  <a:srgbClr val="333333"/>
                </a:solidFill>
                <a:latin typeface="Calibri"/>
              </a:rPr>
              <a:t>Predictive maintenance (NASA turbofans), air quality monitoring, and gesture interfaces all require not just predictions but actionable explanations.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21992"/>
            <a:ext cx="54864" cy="5029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21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5B96"/>
                </a:solidFill>
                <a:latin typeface="Calibri"/>
              </a:rPr>
              <a:t>Deep learning opacity: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54203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50">
                <a:solidFill>
                  <a:srgbClr val="333333"/>
                </a:solidFill>
                <a:latin typeface="Calibri"/>
              </a:rPr>
              <a:t>Transformer classifiers achieve state-of-the-art accuracy on multivariate time series but are black boxes — operators cannot verify or trust their decisions.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54864" cy="5029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9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5B96"/>
                </a:solidFill>
                <a:latin typeface="Calibri"/>
              </a:rPr>
              <a:t>SHAP/LIME limitations: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50">
                <a:solidFill>
                  <a:srgbClr val="333333"/>
                </a:solidFill>
                <a:latin typeface="Calibri"/>
              </a:rPr>
              <a:t>Feature-attribution methods answer 'what mattered?' but cannot answer 'what would need to change for a different outcome?' — they lack actionability.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97096"/>
            <a:ext cx="54864" cy="5029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970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5B96"/>
                </a:solidFill>
                <a:latin typeface="Calibri"/>
              </a:rPr>
              <a:t>Counterfactual gap: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1713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50">
                <a:solidFill>
                  <a:srgbClr val="333333"/>
                </a:solidFill>
                <a:latin typeface="Calibri"/>
              </a:rPr>
              <a:t>Existing CF methods for time series (CoMTE, AB-CF, Native Guide) ignore sensor physics, work in raw-signal space, and discard model-internal saliency signals.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84648"/>
            <a:ext cx="54864" cy="5029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846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5B96"/>
                </a:solidFill>
                <a:latin typeface="Calibri"/>
              </a:rPr>
              <a:t>TAGFC insight: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046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50">
                <a:solidFill>
                  <a:srgbClr val="333333"/>
                </a:solidFill>
                <a:latin typeface="Calibri"/>
              </a:rPr>
              <a:t>Combining Transformer attention rollout + Haar wavelet domain + cross-sensor coherence yields sparse, physically valid, model-aware counterfactuals.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4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40312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333333"/>
                </a:solidFill>
                <a:latin typeface="Calibri"/>
              </a:rPr>
              <a:t>Given a trained Transformer classifier f : ℝ^{T×D} → {1,…,K} and a query time series X with predicted label y = f(X), find a counterfactual X* such that f(X*) = y* ≠ y, where X* is (i) minimal in perturbation, (ii) sparse in changed sensors/timesteps, (iii) physically coherent across sensors, and (iv) close to real target-class samples.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88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05B96"/>
                </a:solidFill>
                <a:latin typeface="Calibri"/>
              </a:rPr>
              <a:t>Formal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2724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650">
                <a:solidFill>
                  <a:srgbClr val="003366"/>
                </a:solidFill>
                <a:latin typeface="Courier New"/>
              </a:rPr>
              <a:t>min_δ   L_flip(X̃) + λ₁·L_sparse(δ) + λ₂·L_cross(X̃) + λ₃·L_manifold(X̃)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94760"/>
            <a:ext cx="2743200" cy="1417320"/>
          </a:xfrm>
          <a:prstGeom prst="rect">
            <a:avLst/>
          </a:prstGeom>
          <a:solidFill>
            <a:srgbClr val="E8F4FF"/>
          </a:solidFill>
          <a:ln w="127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L_flip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5137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ourier New"/>
              </a:rPr>
              <a:t>−log P(y*|X̃)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079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Classifier flip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794760"/>
            <a:ext cx="2743200" cy="1417320"/>
          </a:xfrm>
          <a:prstGeom prst="rect">
            <a:avLst/>
          </a:prstGeom>
          <a:solidFill>
            <a:srgbClr val="E8F4FF"/>
          </a:solidFill>
          <a:ln w="127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L_sparse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15137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ourier New"/>
              </a:rPr>
              <a:t>Σ  ω_cd · |δ_cd|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5079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Omega-weighted wavelet L1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2743200" cy="1417320"/>
          </a:xfrm>
          <a:prstGeom prst="rect">
            <a:avLst/>
          </a:prstGeom>
          <a:solidFill>
            <a:srgbClr val="E8F4FF"/>
          </a:solidFill>
          <a:ln w="127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L_cross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415137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ourier New"/>
              </a:rPr>
              <a:t>Δμᵀ Σ⁻¹ Δμ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5079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Mahalanobis cross-sensor coherence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3794760"/>
            <a:ext cx="2743200" cy="1417320"/>
          </a:xfrm>
          <a:prstGeom prst="rect">
            <a:avLst/>
          </a:prstGeom>
          <a:solidFill>
            <a:srgbClr val="E8F4FF"/>
          </a:solidFill>
          <a:ln w="1270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8404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L_manifold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15137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ourier New"/>
              </a:rPr>
              <a:t>‖X̃ − X_nn‖²_F / (T·D)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45079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Proximity to nearest target sample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Research Gaps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05B96"/>
                </a:solidFill>
                <a:latin typeface="Calibri"/>
              </a:rPr>
              <a:t>Identified Research Gaps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347472" cy="347472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1848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184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333333"/>
                </a:solidFill>
                <a:latin typeface="Calibri"/>
              </a:rPr>
              <a:t>No existing MTS CF method operates in the frequency/wavelet 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347472" cy="347472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0428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333333"/>
                </a:solidFill>
                <a:latin typeface="Calibri"/>
              </a:rPr>
              <a:t>Existing methods ignore model-internal attention (black-box perturbation)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71800"/>
            <a:ext cx="347472" cy="347472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9008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900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333333"/>
                </a:solidFill>
                <a:latin typeface="Calibri"/>
              </a:rPr>
              <a:t>Cross-sensor physical coherence is not enforced — outputs are physically implausible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188720"/>
            <a:ext cx="4572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005B96"/>
                </a:solidFill>
                <a:latin typeface="Calibri"/>
              </a:rPr>
              <a:t>Research Objectives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600200"/>
            <a:ext cx="347472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61848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6184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Design a wavelet-domain counterfactual optimisation framework for MTS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148840"/>
            <a:ext cx="347472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16712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1671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Derive attention rollout saliency to guide perturbation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2697480"/>
            <a:ext cx="347472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71576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7157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Enforce cross-sensor Mahalanobis coherence in the objective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246120"/>
            <a:ext cx="347472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26440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2644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Achieve exact sparsity via Proximal Gradient Descent with soft-thresholding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3794760"/>
            <a:ext cx="347472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81304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8130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Evaluate on two benchmark datasets (AQI India, NATOPS) against 4 baselines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343400"/>
            <a:ext cx="347472" cy="34747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361688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3616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Conduct statistical validation with Wilcoxon signed-rank + Bonferroni correction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Related Work — Counterfactual Methods for Time Series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6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69164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5272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4248" y="1234440"/>
            <a:ext cx="64008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7" y="125272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2616" y="1234440"/>
            <a:ext cx="16002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8336" y="1252728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Search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1104" y="1234440"/>
            <a:ext cx="169164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252728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Saliency-Guided?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1031" y="1234440"/>
            <a:ext cx="146304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1" y="12527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Frequency Domain?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234440"/>
            <a:ext cx="128016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1252728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Coherence?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636776"/>
            <a:ext cx="169164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664208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Native Guide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4248" y="1636776"/>
            <a:ext cx="64008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29967" y="1664208"/>
            <a:ext cx="548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2021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42616" y="1636776"/>
            <a:ext cx="160020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8336" y="1664208"/>
            <a:ext cx="1508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Raw signal
(window swap)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4" y="1636776"/>
            <a:ext cx="169164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1664208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CAM-based
(univariate)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71031" y="1636776"/>
            <a:ext cx="146304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6751" y="1664208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59" y="1636776"/>
            <a:ext cx="128016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1664208"/>
            <a:ext cx="11887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350008"/>
            <a:ext cx="1691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2377440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CoMTE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84248" y="2350008"/>
            <a:ext cx="640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29967" y="2377440"/>
            <a:ext cx="548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2021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42616" y="2350008"/>
            <a:ext cx="1600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88336" y="2377440"/>
            <a:ext cx="1508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Raw signal
(whole channel swap)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1104" y="2350008"/>
            <a:ext cx="1691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06824" y="2377440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71031" y="2350008"/>
            <a:ext cx="14630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16751" y="2377440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59" y="2350008"/>
            <a:ext cx="12801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2377440"/>
            <a:ext cx="11887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063240"/>
            <a:ext cx="169164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3090672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SETS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84248" y="3063240"/>
            <a:ext cx="64008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9967" y="3090672"/>
            <a:ext cx="548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2022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42616" y="3063240"/>
            <a:ext cx="160020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88336" y="3090672"/>
            <a:ext cx="1508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Shapelet space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61104" y="3063240"/>
            <a:ext cx="169164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06824" y="3090672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71031" y="3063240"/>
            <a:ext cx="146304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16751" y="3090672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59" y="3063240"/>
            <a:ext cx="1280160" cy="67665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79" y="3090672"/>
            <a:ext cx="11887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776472"/>
            <a:ext cx="1691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3803904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AB-CF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84248" y="3776472"/>
            <a:ext cx="6400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29967" y="3803904"/>
            <a:ext cx="548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2023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42616" y="3776472"/>
            <a:ext cx="1600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88336" y="3803904"/>
            <a:ext cx="1508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Raw signal
(segment entropy)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61104" y="3776472"/>
            <a:ext cx="16916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06824" y="3803904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Entropy proxy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71031" y="3776472"/>
            <a:ext cx="14630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16751" y="3803904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59" y="3776472"/>
            <a:ext cx="12801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79" y="3803904"/>
            <a:ext cx="11887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489704"/>
            <a:ext cx="1691640" cy="676656"/>
          </a:xfrm>
          <a:prstGeom prst="rect">
            <a:avLst/>
          </a:prstGeom>
          <a:solidFill>
            <a:srgbClr val="FFF5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4517136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E86A00"/>
                </a:solidFill>
                <a:latin typeface="Calibri"/>
              </a:rPr>
              <a:t>TAGFC (Ours)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84248" y="4489704"/>
            <a:ext cx="640080" cy="676656"/>
          </a:xfrm>
          <a:prstGeom prst="rect">
            <a:avLst/>
          </a:prstGeom>
          <a:solidFill>
            <a:srgbClr val="FFF5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29967" y="4517136"/>
            <a:ext cx="548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333333"/>
                </a:solidFill>
                <a:latin typeface="Calibri"/>
              </a:rPr>
              <a:t>2026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42616" y="4489704"/>
            <a:ext cx="1600200" cy="676656"/>
          </a:xfrm>
          <a:prstGeom prst="rect">
            <a:avLst/>
          </a:prstGeom>
          <a:solidFill>
            <a:srgbClr val="FFF5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688336" y="4517136"/>
            <a:ext cx="15087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333333"/>
                </a:solidFill>
                <a:latin typeface="Calibri"/>
              </a:rPr>
              <a:t>Haar wavelet
coefficients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61104" y="4489704"/>
            <a:ext cx="1691640" cy="676656"/>
          </a:xfrm>
          <a:prstGeom prst="rect">
            <a:avLst/>
          </a:prstGeom>
          <a:solidFill>
            <a:srgbClr val="FFF5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06824" y="4517136"/>
            <a:ext cx="1600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333333"/>
                </a:solidFill>
                <a:latin typeface="Calibri"/>
              </a:rPr>
              <a:t>Attention rollout
(multi-layer)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71031" y="4489704"/>
            <a:ext cx="1463040" cy="676656"/>
          </a:xfrm>
          <a:prstGeom prst="rect">
            <a:avLst/>
          </a:prstGeom>
          <a:solidFill>
            <a:srgbClr val="FFF5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16751" y="4517136"/>
            <a:ext cx="1371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333333"/>
                </a:solidFill>
                <a:latin typeface="Calibri"/>
              </a:rPr>
              <a:t>Yes (3-level
Haar DWT)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52359" y="4489704"/>
            <a:ext cx="1280160" cy="676656"/>
          </a:xfrm>
          <a:prstGeom prst="rect">
            <a:avLst/>
          </a:prstGeom>
          <a:solidFill>
            <a:srgbClr val="FFF5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98079" y="4517136"/>
            <a:ext cx="11887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333333"/>
                </a:solidFill>
                <a:latin typeface="Calibri"/>
              </a:rPr>
              <a:t>Yes (Maha-
lanobis Σ⁻¹)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7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749039" cy="5303520"/>
          </a:xfrm>
          <a:prstGeom prst="rect">
            <a:avLst/>
          </a:prstGeom>
          <a:solidFill>
            <a:srgbClr val="F0F4F8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4572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AQI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333333"/>
                </a:solidFill>
                <a:latin typeface="Calibri"/>
              </a:rPr>
              <a:t>Central Pollution Control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T = 14 timesteps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441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D = 12 pollutants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254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K = 3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2095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alibri"/>
              </a:rPr>
              <a:t>N = 60 explained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333333"/>
                </a:solidFill>
                <a:latin typeface="Calibri"/>
              </a:rPr>
              <a:t>PM2.5, PM10, NO, NO2, NOx, NH3, CO, SO2, O3, Benzene, Toluene, Xylene
Classes: Good / Moderate / Poor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188720"/>
            <a:ext cx="3749039" cy="5303520"/>
          </a:xfrm>
          <a:prstGeom prst="rect">
            <a:avLst/>
          </a:prstGeom>
          <a:solidFill>
            <a:srgbClr val="F0F4F8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1188720"/>
            <a:ext cx="3749039" cy="4572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21615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NATOPS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1691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333333"/>
                </a:solidFill>
                <a:latin typeface="Calibri"/>
              </a:rPr>
              <a:t>UEA Time Series Archive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T = 51 timesteps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441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D = 24 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8254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K = 6 gesture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2095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alibri"/>
              </a:rPr>
              <a:t>N = 30 explained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1" y="36576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333333"/>
                </a:solidFill>
                <a:latin typeface="Calibri"/>
              </a:rPr>
              <a:t>Right/Left: Hand, Elbow, Wrist, Thumb × x,y,z
Classes: I have command, All clear, Not clear, Spread wings, Fold wings, Lock wings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1188720"/>
            <a:ext cx="3749039" cy="5303520"/>
          </a:xfrm>
          <a:prstGeom prst="rect">
            <a:avLst/>
          </a:prstGeom>
          <a:solidFill>
            <a:srgbClr val="F0F4F8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4464" y="1188720"/>
            <a:ext cx="3749039" cy="45720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21615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FFFFFF"/>
                </a:solidFill>
                <a:latin typeface="Calibri"/>
              </a:rPr>
              <a:t>NASA CMAPSS FD001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1691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333333"/>
                </a:solidFill>
                <a:latin typeface="Calibri"/>
              </a:rPr>
              <a:t>NASA Turbofan Degradation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T = 30 cycles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2441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D = 14 sensors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1624" y="28254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003366"/>
                </a:solidFill>
                <a:latin typeface="Calibri"/>
              </a:rPr>
              <a:t>K = 3 health states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32095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alibri"/>
              </a:rPr>
              <a:t>N = 200 (pending)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36576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150">
                <a:solidFill>
                  <a:srgbClr val="333333"/>
                </a:solidFill>
                <a:latin typeface="Calibri"/>
              </a:rPr>
              <a:t>7 constant sensors removed (s1,s5,s6,s10,s16,s18,s19)
Classes: Healthy (RUL&gt;120), Degrading, Critical (RUL≤30)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TAGFC Framework — 5-Step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8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34440"/>
            <a:ext cx="2212848" cy="4389120"/>
          </a:xfrm>
          <a:prstGeom prst="rect">
            <a:avLst/>
          </a:prstGeom>
          <a:solidFill>
            <a:srgbClr val="E8F4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234440"/>
            <a:ext cx="2212848" cy="50292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2618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49047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Attention
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029968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33"/>
                </a:solidFill>
                <a:latin typeface="Courier New"/>
              </a:rPr>
              <a:t>Ât^l = 0.5·At^l + 0.5·I
Rollout = ∏ Ât
st = column sums → [0,1]^T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E86A0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234440"/>
            <a:ext cx="2212848" cy="4389120"/>
          </a:xfrm>
          <a:prstGeom prst="rect">
            <a:avLst/>
          </a:prstGeom>
          <a:solidFill>
            <a:srgbClr val="E8F4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234440"/>
            <a:ext cx="2212848" cy="50292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12618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2" y="149047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Haar DWT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2" y="2029968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33"/>
                </a:solidFill>
                <a:latin typeface="Courier New"/>
              </a:rPr>
              <a:t>Decompose each sensor
X → C ∈ R^{D×L}
3-level wavelet 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E86A0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1234440"/>
            <a:ext cx="2212848" cy="4389120"/>
          </a:xfrm>
          <a:prstGeom prst="rect">
            <a:avLst/>
          </a:prstGeom>
          <a:solidFill>
            <a:srgbClr val="E8F4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80" y="1234440"/>
            <a:ext cx="2212848" cy="50292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6632" y="12618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6632" y="149047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Omega
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2029968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33"/>
                </a:solidFill>
                <a:latin typeface="Courier New"/>
              </a:rPr>
              <a:t>G = |smoothed gradient|
Gwav = DWT(|G|)
ω = 1 / (s × Gwav)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8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E86A0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1234440"/>
            <a:ext cx="2212848" cy="4389120"/>
          </a:xfrm>
          <a:prstGeom prst="rect">
            <a:avLst/>
          </a:prstGeom>
          <a:solidFill>
            <a:srgbClr val="E8F4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20" y="1234440"/>
            <a:ext cx="2212848" cy="50292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12618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149047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4-Term
Objective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2" y="2029968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33"/>
                </a:solidFill>
                <a:latin typeface="Courier New"/>
              </a:rPr>
              <a:t>Lflip + λ1·Lsparse
+ λ2·Lcross
+ λ3·Lmanifold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73768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E86A0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38360" y="1234440"/>
            <a:ext cx="2212848" cy="4389120"/>
          </a:xfrm>
          <a:prstGeom prst="rect">
            <a:avLst/>
          </a:prstGeom>
          <a:solidFill>
            <a:srgbClr val="E8F4FF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38360" y="1234440"/>
            <a:ext cx="2212848" cy="50292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1512" y="126187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149047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Proximal GD
+ Soft-Thresh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2029968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333333"/>
                </a:solidFill>
                <a:latin typeface="Courier New"/>
              </a:rPr>
              <a:t>δ ← δ − η∇L
δcd ← sign(δcd)·max(|δcd|−η·λ1·ωcd, 0)
Clip δ ∈ [−2.5, +2.5]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5760720"/>
            <a:ext cx="11731752" cy="4572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797296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50">
                <a:solidFill>
                  <a:srgbClr val="FFFFFF"/>
                </a:solidFill>
                <a:latin typeface="Calibri"/>
              </a:rPr>
              <a:t>Hyperparameters:  λ₁=0.02   λ₂=0.01   λ₃=0.10   η=0.05   MAX_ITER=300   PATIENCE=25   DELTA_BOUND=2.5   σ=1.5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Method Detail — Attention Rollout &amp; Haar DWT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005B96"/>
                </a:solidFill>
                <a:latin typeface="Calibri"/>
              </a:rPr>
              <a:t>Step 1 — Attention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459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For each Transformer layer l, add identity shortcut: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5740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ourier New"/>
              </a:rPr>
              <a:t>Â^l  =  0.5 · A^l  +  0.5 · I_T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6888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Propagate through all L layers (recursive product):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88036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003366"/>
                </a:solidFill>
                <a:latin typeface="Courier New"/>
              </a:rPr>
              <a:t>Rollout  =  Â^1 ⊗ Â^2 ⊗ … ⊗ Â^L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918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Temporal saliency:  s_t = Σ_h  Rollout[CLS, t]  ∈ [0,1]^T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7033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High s_t → timestep t is important to prediction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36576" cy="47548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005B96"/>
                </a:solidFill>
                <a:latin typeface="Calibri"/>
              </a:rPr>
              <a:t>Step 2 — Haar DWT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Decompose each sensor channel independently: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C_d  =  DWT(X[:, d])  ∈ R^L     (L = 64 for T=51)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Full coefficient matrix: C ∈ R^{D × L}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Counterfactual: X̃ = iDWT(C + δ)  (inverse DWT)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33333"/>
                </a:solidFill>
                <a:latin typeface="Calibri"/>
              </a:rPr>
              <a:t>Why wavelets?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33333"/>
                </a:solidFill>
                <a:latin typeface="Calibri"/>
              </a:rPr>
              <a:t>• Slow trends (approx. coefficients) ≠ fast noise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33333"/>
                </a:solidFill>
                <a:latin typeface="Calibri"/>
              </a:rPr>
              <a:t>• Localised in both time AND frequency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333333"/>
                </a:solidFill>
                <a:latin typeface="Calibri"/>
              </a:rPr>
              <a:t>• Sparse perturbation of a few coefficients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492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changes a specific time-frequency region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Method Detail — Omega Weights, Objective, Optimisation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10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612880" cy="3200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52728"/>
            <a:ext cx="11430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  <a:latin typeface="Calibri"/>
              </a:rPr>
              <a:t>Step 3 — Omega 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Smoothed input gradient:  G = Gaussian_smooth(|∂L/∂X|,  σ=1.5)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9384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Wavelet gradient:  G_wav = DWT(|G|)  ∈ R^{D×L}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76856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Joint importance:  M = s_t(×broadcast) × G_wav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24327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Omega (perturbation cost):  ω = 1 / normalize(M)  — cheap to change if ω is small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59"/>
            <a:ext cx="11612880" cy="3200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127247"/>
            <a:ext cx="11430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  <a:latin typeface="Calibri"/>
              </a:rPr>
              <a:t>Step 4 — Objective (4 terms)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56431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L_flip    = −log P(y* | X̃)          [classifier flip]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03903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L_sparse  = Σ_{c,d} ω_{cd} · |δ_{cd}|  [omega-weighted L1]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51375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L_cross   = Δμᵀ · Σ_X⁻¹ · Δμ         [Maha. cross-sensor]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98847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L_manifold= ‖X̃ − X_nn‖²_F / (T·D)   [manifold proximity]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1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Total:    L = L_flip + 0.02·L_sparse + 0.01·L_cross + 0.10·L_manifold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30951"/>
            <a:ext cx="11612880" cy="3200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49239"/>
            <a:ext cx="1143000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FFFFFF"/>
                </a:solidFill>
                <a:latin typeface="Calibri"/>
              </a:rPr>
              <a:t>Step 5 — Proximal GD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78423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Gradient step:  δ ← δ − η · ∇_δ L(δ)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25895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Soft-threshold: δ_{cd} ← sign(δ_{cd}) · max(|δ_{cd}| − η·λ₁·ω_{cd},  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73367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Bound clip:     δ_{cd} ← clip(δ_{cd},  −2.5,  +2.5)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72083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ourier New"/>
              </a:rPr>
              <a:t>Stop: patience=25 iters no improvement, max 300 iters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  <a:latin typeface="Calibri"/>
              </a:rPr>
              <a:t>TAGFC — How Each Step's Output Flows Into the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11 / 29 /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078992"/>
            <a:ext cx="11887200" cy="54132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143000"/>
            <a:ext cx="4297680" cy="896112"/>
          </a:xfrm>
          <a:prstGeom prst="rect">
            <a:avLst/>
          </a:prstGeom>
          <a:solidFill>
            <a:srgbClr val="CCE5FF"/>
          </a:solidFill>
          <a:ln w="1524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1143000"/>
            <a:ext cx="4297680" cy="3200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170432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1490472"/>
            <a:ext cx="4151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003366"/>
                </a:solidFill>
                <a:latin typeface="Calibri"/>
              </a:rPr>
              <a:t>Attention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1837943"/>
            <a:ext cx="415137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333333"/>
                </a:solidFill>
                <a:latin typeface="Courier New"/>
              </a:rPr>
              <a:t>Â = 0.5·A + 0.5·I
Rollout = Â¹⊗…⊗Â^L
Output: s_t ∈ [0,1]^T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68296" y="2039112"/>
            <a:ext cx="73152" cy="150876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76856" y="2170785"/>
            <a:ext cx="256032" cy="123444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2313432"/>
            <a:ext cx="4297680" cy="896112"/>
          </a:xfrm>
          <a:prstGeom prst="rect">
            <a:avLst/>
          </a:prstGeom>
          <a:solidFill>
            <a:srgbClr val="CCE5FF"/>
          </a:solidFill>
          <a:ln w="1524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313432"/>
            <a:ext cx="4297680" cy="32004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2340864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2660904"/>
            <a:ext cx="4151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003366"/>
                </a:solidFill>
                <a:latin typeface="Calibri"/>
              </a:rPr>
              <a:t>Haar DWT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" y="3008376"/>
            <a:ext cx="415137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333333"/>
                </a:solidFill>
                <a:latin typeface="Courier New"/>
              </a:rPr>
              <a:t>C_d = DWT(X[:,d]) ∈ R^L
Output: C ∈ R^{D×L}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68296" y="3209544"/>
            <a:ext cx="73152" cy="150876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76856" y="3341217"/>
            <a:ext cx="256032" cy="123444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483864"/>
            <a:ext cx="4297680" cy="896112"/>
          </a:xfrm>
          <a:prstGeom prst="rect">
            <a:avLst/>
          </a:prstGeom>
          <a:solidFill>
            <a:srgbClr val="D4EDDA"/>
          </a:solidFill>
          <a:ln w="1524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3483864"/>
            <a:ext cx="4297680" cy="320040"/>
          </a:xfrm>
          <a:prstGeom prst="rect">
            <a:avLst/>
          </a:prstGeom>
          <a:solidFill>
            <a:srgbClr val="00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3511296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3831336"/>
            <a:ext cx="4151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003366"/>
                </a:solidFill>
                <a:latin typeface="Calibri"/>
              </a:rPr>
              <a:t>Omega Weights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" y="4178808"/>
            <a:ext cx="415137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333333"/>
                </a:solidFill>
                <a:latin typeface="Courier New"/>
              </a:rPr>
              <a:t>G_wav = DWT(|∇X|)
M = s_t × G_wav
ω = 1/normalize(M)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68296" y="4379976"/>
            <a:ext cx="73152" cy="150876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76856" y="4511649"/>
            <a:ext cx="256032" cy="123444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" y="4654296"/>
            <a:ext cx="4297680" cy="896112"/>
          </a:xfrm>
          <a:prstGeom prst="rect">
            <a:avLst/>
          </a:prstGeom>
          <a:solidFill>
            <a:srgbClr val="F0E0FF"/>
          </a:solidFill>
          <a:ln w="1524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4654296"/>
            <a:ext cx="4297680" cy="32004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" y="4681728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" y="5001768"/>
            <a:ext cx="4151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003366"/>
                </a:solidFill>
                <a:latin typeface="Calibri"/>
              </a:rPr>
              <a:t>4-Term Objective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" y="5349240"/>
            <a:ext cx="415137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333333"/>
                </a:solidFill>
                <a:latin typeface="Courier New"/>
              </a:rPr>
              <a:t>L = L_flip + λ1·L_sparse(ω)
    + λ2·L_cross + λ3·L_manifold(C)
Output: ∇L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68296" y="5550408"/>
            <a:ext cx="73152" cy="150876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76856" y="5682081"/>
            <a:ext cx="256032" cy="123444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5824728"/>
            <a:ext cx="4297680" cy="896112"/>
          </a:xfrm>
          <a:prstGeom prst="rect">
            <a:avLst/>
          </a:prstGeom>
          <a:solidFill>
            <a:srgbClr val="FFF5E6"/>
          </a:solidFill>
          <a:ln w="1524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5824728"/>
            <a:ext cx="4297680" cy="32004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5852160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" y="6172200"/>
            <a:ext cx="4151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003366"/>
                </a:solidFill>
                <a:latin typeface="Calibri"/>
              </a:rPr>
              <a:t>Proximal GD + Soft-Thresh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" y="6519672"/>
            <a:ext cx="4151376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50">
                <a:solidFill>
                  <a:srgbClr val="333333"/>
                </a:solidFill>
                <a:latin typeface="Courier New"/>
              </a:rPr>
              <a:t>δ ← δ − η·∇L   [gradient step]
δ_cd ← sign·max(|δ|−η·λ1·ω, 0)  [sparsify]
Output: δ  →  X* = iDWT(C + δ)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" y="1115568"/>
            <a:ext cx="3749040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112471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Query X  (T×D multivariate time series)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1463040"/>
            <a:ext cx="64008" cy="256032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95144" y="1664208"/>
            <a:ext cx="256032" cy="201168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0352" y="6830568"/>
            <a:ext cx="3749040" cy="347472"/>
          </a:xfrm>
          <a:prstGeom prst="rect">
            <a:avLst/>
          </a:prstGeom>
          <a:solidFill>
            <a:srgbClr val="00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6839712"/>
            <a:ext cx="3657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Counterfactual X*  =  iDWT(C + δ)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1078992"/>
            <a:ext cx="7479792" cy="5413248"/>
          </a:xfrm>
          <a:prstGeom prst="rect">
            <a:avLst/>
          </a:prstGeom>
          <a:solidFill>
            <a:srgbClr val="FFFFFF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709160" y="1078992"/>
            <a:ext cx="7479792" cy="34747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600" y="1106424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FFFFFF"/>
                </a:solidFill>
                <a:latin typeface="Calibri"/>
              </a:rPr>
              <a:t>What Each Step Produces  →  Where It Goes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1481328"/>
            <a:ext cx="7223760" cy="27432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1508760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1  →  s_t = [0.21, 0.24, 0.26, 0.29]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73752" y="1773936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1050">
                <a:solidFill>
                  <a:srgbClr val="E86A00"/>
                </a:solidFill>
                <a:latin typeface="Calibri"/>
              </a:rPr>
              <a:t>  ↓  Skips Step 2  |  Goes directly to Step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1993392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333333"/>
                </a:solidFill>
                <a:latin typeface="Calibri"/>
              </a:rPr>
              <a:t>Step 3 uses s_t to build joint importance M = s_t × G_wav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2331720"/>
            <a:ext cx="7223760" cy="27432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2359151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2  →  C ∈ R^{2×4}  (wavelet coefficients)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73752" y="2624327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1050">
                <a:solidFill>
                  <a:srgbClr val="E86A00"/>
                </a:solidFill>
                <a:latin typeface="Calibri"/>
              </a:rPr>
              <a:t>  ↓  Used in Steps 4 and 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83480" y="2843784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333333"/>
                </a:solidFill>
                <a:latin typeface="Calibri"/>
              </a:rPr>
              <a:t>Step 4: X̃ = iDWT(C+δ) for loss computation
Step 5: final X* = iDWT(C + δ_final)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00600" y="3182112"/>
            <a:ext cx="7223760" cy="274320"/>
          </a:xfrm>
          <a:prstGeom prst="rect">
            <a:avLst/>
          </a:prstGeom>
          <a:solidFill>
            <a:srgbClr val="00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92040" y="3209544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3  →  ω = [1.00, 2.04, 6.25, 2.44]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73752" y="3474720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1050">
                <a:solidFill>
                  <a:srgbClr val="E86A00"/>
                </a:solidFill>
                <a:latin typeface="Calibri"/>
              </a:rPr>
              <a:t>  ↓  Used in Steps 4 and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3480" y="3694176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333333"/>
                </a:solidFill>
                <a:latin typeface="Calibri"/>
              </a:rPr>
              <a:t>Step 4: L_sparse = Σ ω·|δ|  (weighted cost)
Step 5: threshold = η·λ₁·ω  (zeros out small δ)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00600" y="4032504"/>
            <a:ext cx="7223760" cy="27432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92040" y="4059936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4  →  ∇L  (gradient of total loss)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73752" y="4325112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1050">
                <a:solidFill>
                  <a:srgbClr val="E86A00"/>
                </a:solidFill>
                <a:latin typeface="Calibri"/>
              </a:rPr>
              <a:t>  ↓  Used in Step 5 only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83480" y="4544568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333333"/>
                </a:solidFill>
                <a:latin typeface="Calibri"/>
              </a:rPr>
              <a:t>Step 5: δ ← δ − η·∇L  (gradient step direction)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00600" y="4882896"/>
            <a:ext cx="7223760" cy="2743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92040" y="4910328"/>
            <a:ext cx="7040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100">
                <a:solidFill>
                  <a:srgbClr val="FFFFFF"/>
                </a:solidFill>
                <a:latin typeface="Calibri"/>
              </a:rPr>
              <a:t>Step 5  →  δ  (sparse perturbation in wavelet space)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73752" y="5175504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1" sz="1050">
                <a:solidFill>
                  <a:srgbClr val="E86A00"/>
                </a:solidFill>
                <a:latin typeface="Calibri"/>
              </a:rPr>
              <a:t>  ↓  Feeds BACK to Step 4  (loop 300 iterations)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83480" y="539496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050">
                <a:solidFill>
                  <a:srgbClr val="333333"/>
                </a:solidFill>
                <a:latin typeface="Calibri"/>
              </a:rPr>
              <a:t>Step 4 recomputes loss with new X̃ = iDWT(C+δ)
When P(Poor|X̃) &gt; 0.5  →  EXIT loop  →  X* done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750040" y="4160520"/>
            <a:ext cx="384048" cy="1325880"/>
          </a:xfrm>
          <a:prstGeom prst="rect">
            <a:avLst/>
          </a:prstGeom>
          <a:solidFill>
            <a:srgbClr val="003366"/>
          </a:solidFill>
          <a:ln w="19050">
            <a:solidFill>
              <a:srgbClr val="E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750040" y="4160520"/>
            <a:ext cx="38404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900">
                <a:solidFill>
                  <a:srgbClr val="E86A00"/>
                </a:solidFill>
                <a:latin typeface="Calibri"/>
              </a:rPr>
              <a:t>↑
↑
loop
↑
↑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64592" y="6446520"/>
            <a:ext cx="11887200" cy="2011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1168" y="6455664"/>
            <a:ext cx="1179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FFFFFF"/>
                </a:solidFill>
                <a:latin typeface="Calibri"/>
              </a:rPr>
              <a:t>Steps 1 &amp; 2 run ONCE  ·  Step 3 runs ONCE  ·  Steps 4 ↔ 5 loop until convergence (max 300 iters)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Evaluation Metrics (8 Metrics)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11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669280" cy="1188720"/>
          </a:xfrm>
          <a:prstGeom prst="rect">
            <a:avLst/>
          </a:prstGeom>
          <a:solidFill>
            <a:srgbClr val="F0F4F8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893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Validity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600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03366"/>
                </a:solidFill>
                <a:latin typeface="Courier New"/>
              </a:rPr>
              <a:t>Fraction of queries where f(X*) ≠ f(X)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2938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Binary — must be 1 for a CF to be meaningful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669280" cy="1188720"/>
          </a:xfrm>
          <a:prstGeom prst="rect">
            <a:avLst/>
          </a:prstGeom>
          <a:solidFill>
            <a:srgbClr val="F0F4F8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28930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Proximity L1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600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03366"/>
                </a:solidFill>
                <a:latin typeface="Courier New"/>
              </a:rPr>
              <a:t>‖X* − X‖₁ / (T·D)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92938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Total magnitude of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32888"/>
            <a:ext cx="5669280" cy="1188720"/>
          </a:xfrm>
          <a:prstGeom prst="rect">
            <a:avLst/>
          </a:prstGeom>
          <a:solidFill>
            <a:srgbClr val="F0F4F8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587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Proximity L2 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8986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03366"/>
                </a:solidFill>
                <a:latin typeface="Courier New"/>
              </a:rPr>
              <a:t>‖X* − X‖₂ / √(T·D)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2278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RMS perturbation (sensitive to large changes)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532888"/>
            <a:ext cx="5669280" cy="1188720"/>
          </a:xfrm>
          <a:prstGeom prst="rect">
            <a:avLst/>
          </a:prstGeom>
          <a:solidFill>
            <a:srgbClr val="F0F4F8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5877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Proximity L∞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8986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03366"/>
                </a:solidFill>
                <a:latin typeface="Courier New"/>
              </a:rPr>
              <a:t>max|X* − X|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22783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Worst-case single timestep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31335"/>
            <a:ext cx="5669280" cy="1188720"/>
          </a:xfrm>
          <a:prstGeom prst="rect">
            <a:avLst/>
          </a:prstGeom>
          <a:solidFill>
            <a:srgbClr val="F0F4F8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388619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Sparsity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1970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03366"/>
                </a:solidFill>
                <a:latin typeface="Courier New"/>
              </a:rPr>
              <a:t>1 − (# changed features) / (T·D)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5262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Fraction of features left unchanged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831335"/>
            <a:ext cx="5669280" cy="1188720"/>
          </a:xfrm>
          <a:prstGeom prst="rect">
            <a:avLst/>
          </a:prstGeom>
          <a:solidFill>
            <a:srgbClr val="F0F4F8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88619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Coherence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1970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03366"/>
                </a:solidFill>
                <a:latin typeface="Courier New"/>
              </a:rPr>
              <a:t>(Δμ)ᵀ Σ_X⁻¹ (Δμ)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45262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Mahalanobis dist — cross-sensor plausibility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29783"/>
            <a:ext cx="5669280" cy="1188720"/>
          </a:xfrm>
          <a:prstGeom prst="rect">
            <a:avLst/>
          </a:prstGeom>
          <a:solidFill>
            <a:srgbClr val="F0F4F8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518464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CF Confidence 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4955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03366"/>
                </a:solidFill>
                <a:latin typeface="Courier New"/>
              </a:rPr>
              <a:t>P(y* | X*) from classifier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582472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How strongly the CF belongs to target class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129783"/>
            <a:ext cx="5669280" cy="1188720"/>
          </a:xfrm>
          <a:prstGeom prst="rect">
            <a:avLst/>
          </a:prstGeom>
          <a:solidFill>
            <a:srgbClr val="F0F4F8"/>
          </a:solidFill>
          <a:ln w="1016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5184647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400">
                <a:solidFill>
                  <a:srgbClr val="E86A00"/>
                </a:solidFill>
                <a:latin typeface="Calibri"/>
              </a:rPr>
              <a:t>RCF 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549554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003366"/>
                </a:solidFill>
                <a:latin typeface="Courier New"/>
              </a:rPr>
              <a:t>‖X* − X‖₂ / ‖X_NUN − X‖₂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5824727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50">
                <a:solidFill>
                  <a:srgbClr val="333333"/>
                </a:solidFill>
                <a:latin typeface="Calibri"/>
              </a:rPr>
              <a:t>CF quality vs. nearest unlike neighbour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Statistical Test: Paired Wilcoxon Signed-Rank + Bonferroni  (α = 0.05/6 = 0.0083)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AQI India — Classifier Training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333333"/>
                </a:solidFill>
                <a:latin typeface="Calibri"/>
              </a:rPr>
              <a:t>Transformer classifier trained on AQI India dataset (T=14, D=12, K=3)</a:t>
            </a:r>
          </a:p>
        </p:txBody>
      </p:sp>
      <p:pic>
        <p:nvPicPr>
          <p:cNvPr id="9" name="Picture 8" descr="F2_training_curves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27632"/>
            <a:ext cx="8229600" cy="27416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1264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50">
                <a:solidFill>
                  <a:srgbClr val="333333"/>
                </a:solidFill>
                <a:latin typeface="Calibri"/>
              </a:rPr>
              <a:t>Training Accuracy converges within 80 epochs  ·  3-class classification: Good / Moderate / Poor air quality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AQI India — Counterfactual Time-Series Visualisation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333333"/>
                </a:solidFill>
                <a:latin typeface="Calibri"/>
              </a:rPr>
              <a:t>Original vs. Counterfactual trajectories for 12 pollutants over 14 time-steps</a:t>
            </a:r>
          </a:p>
        </p:txBody>
      </p:sp>
      <p:pic>
        <p:nvPicPr>
          <p:cNvPr id="9" name="Picture 8" descr="F3_cf_timeseries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585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0807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50">
                <a:solidFill>
                  <a:srgbClr val="333333"/>
                </a:solidFill>
                <a:latin typeface="Calibri"/>
              </a:rPr>
              <a:t>TAGFC perturbs only the most salient wavelet coefficients → targeted, sparse changes while keeping physically correlated pollutants coherent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AQI India — Temporal Saliency &amp; Pollutant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14 / 28</a:t>
            </a:r>
          </a:p>
        </p:txBody>
      </p:sp>
      <p:pic>
        <p:nvPicPr>
          <p:cNvPr id="8" name="Picture 7" descr="F4_temporal_saliency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1776815"/>
          </a:xfrm>
          <a:prstGeom prst="rect">
            <a:avLst/>
          </a:prstGeom>
        </p:spPr>
      </p:pic>
      <p:pic>
        <p:nvPicPr>
          <p:cNvPr id="9" name="Picture 8" descr="F5_pollutant_importance_sampl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2217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Temporal Saliency (Attention Rollout)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Pollutant Importance (Omega Weights)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636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00">
                <a:solidFill>
                  <a:srgbClr val="333333"/>
                </a:solidFill>
                <a:latin typeface="Calibri"/>
              </a:rPr>
              <a:t>High saliency timesteps and high-omega pollutants are perturbed first by TAGFC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AQI India — Frequency-Domain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15 / 28</a:t>
            </a:r>
          </a:p>
        </p:txBody>
      </p:sp>
      <p:pic>
        <p:nvPicPr>
          <p:cNvPr id="8" name="Picture 7" descr="F6_freq_importance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1608419"/>
          </a:xfrm>
          <a:prstGeom prst="rect">
            <a:avLst/>
          </a:prstGeom>
        </p:spPr>
      </p:pic>
      <p:pic>
        <p:nvPicPr>
          <p:cNvPr id="9" name="Picture 8" descr="F7_delta_heatmap_sampl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1702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Frequency Band Importance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Wavelet Coefficient Δ Heatmap (Sensor × Coefficient)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910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00">
                <a:solidFill>
                  <a:srgbClr val="333333"/>
                </a:solidFill>
                <a:latin typeface="Calibri"/>
              </a:rPr>
              <a:t>Low-frequency (approx.) coefficients carry dominant pollution trend signal; TAGFC concentrates perturbations there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AQI India — Quantitative Results  (N = 60)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16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13716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" y="120700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9344" y="1188720"/>
            <a:ext cx="105156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207008"/>
            <a:ext cx="9784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Validity↑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188720"/>
            <a:ext cx="105156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06624" y="1207008"/>
            <a:ext cx="9784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Prox L1↓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0752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Prox L2↓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016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Prox L∞↓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5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Sparsity↑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38543" y="1188720"/>
            <a:ext cx="105156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19" y="1207008"/>
            <a:ext cx="97840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Coherence↓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7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3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CF Conf↑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68511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05087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RCF↓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591056"/>
            <a:ext cx="137160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1618488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E86A00"/>
                </a:solidFill>
                <a:latin typeface="Calibri"/>
              </a:rPr>
              <a:t>TAGFC (Ours)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9344" y="1591056"/>
            <a:ext cx="105156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1618488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1.000±0.000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70048" y="1591056"/>
            <a:ext cx="105156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06624" y="1618488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10.589±8.229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30752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67328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2.030±1.214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0016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1.304±0.704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79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05855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E86A00"/>
                </a:solidFill>
                <a:latin typeface="Calibri"/>
              </a:rPr>
              <a:t>0.000±0.001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38543" y="1591056"/>
            <a:ext cx="105156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19" y="1618488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0.132±0.274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9247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35823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0.955±0.092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68511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05087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0.349±0.182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121408"/>
            <a:ext cx="1371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176" y="214884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CoMTE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9344" y="2121408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0" y="2148840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0.167±0.373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70048" y="2121408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148840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47.136±32.907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30752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67328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6.083±3.702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016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36592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2.326±1.475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79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05855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0.208±0.307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38543" y="2121408"/>
            <a:ext cx="105156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19" y="2148840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1.042±1.428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99247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35823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0.132±0.292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1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05087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0.920±0.224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2651760"/>
            <a:ext cx="137160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5176" y="2679191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AB-CF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9344" y="2651760"/>
            <a:ext cx="105156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45920" y="2679191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0.133±0.340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70048" y="2651760"/>
            <a:ext cx="105156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6624" y="2679191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49.305±33.406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30752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67328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6.329±3.748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00016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36592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2.486±1.766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79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05855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0.173±0.287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38543" y="2651760"/>
            <a:ext cx="105156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19" y="2679191"/>
            <a:ext cx="9784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1.044±1.413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99247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35823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0.106±0.271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668511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05087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0.947±0.190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00" y="324612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50">
                <a:solidFill>
                  <a:srgbClr val="333333"/>
                </a:solidFill>
                <a:latin typeface="Calibri"/>
              </a:rPr>
              <a:t>Bold red = best in column  ·  TAGFC wins 7/8 metrics; CoMTE best on Sparsity (whole-channel swap naturally zeroes unused channels)</a:t>
            </a:r>
          </a:p>
        </p:txBody>
      </p:sp>
      <p:pic>
        <p:nvPicPr>
          <p:cNvPr id="81" name="Picture 80" descr="F8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10241280" cy="38736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NATOPS — Classifier Training &amp;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17 / 28</a:t>
            </a:r>
          </a:p>
        </p:txBody>
      </p:sp>
      <p:pic>
        <p:nvPicPr>
          <p:cNvPr id="8" name="Picture 7" descr="F2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1935471"/>
          </a:xfrm>
          <a:prstGeom prst="rect">
            <a:avLst/>
          </a:prstGeom>
        </p:spPr>
      </p:pic>
      <p:pic>
        <p:nvPicPr>
          <p:cNvPr id="9" name="Picture 8" descr="F3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577840" cy="50240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064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Training Accuracy + Loss Curves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806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Confusion Matrix (6-class gesture recognition)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910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00">
                <a:solidFill>
                  <a:srgbClr val="333333"/>
                </a:solidFill>
                <a:latin typeface="Calibri"/>
              </a:rPr>
              <a:t>Transformer achieves high per-class accuracy on NATOPS — providing a strong, well-calibrated base model for CF explanation quality evaluation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NATOPS — Counterfactual Time-Series Visualisation (24 channels)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333333"/>
                </a:solidFill>
                <a:latin typeface="Calibri"/>
              </a:rPr>
              <a:t>Original (blue) vs. Counterfactual (orange) — 24 motion capture channels over 51 timesteps</a:t>
            </a:r>
          </a:p>
        </p:txBody>
      </p:sp>
      <p:pic>
        <p:nvPicPr>
          <p:cNvPr id="9" name="Picture 8" descr="F4_cf_timeseries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36192"/>
            <a:ext cx="11612880" cy="63914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1264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50">
                <a:solidFill>
                  <a:srgbClr val="333333"/>
                </a:solidFill>
                <a:latin typeface="Calibri"/>
              </a:rPr>
              <a:t>TAGFC modifies only a small subset of wavelet coefficients — resulting CF differs from original only in targeted motion segments, not the full trajectory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NATOPS — Temporal Saliency &amp; Channel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19 / 28</a:t>
            </a:r>
          </a:p>
        </p:txBody>
      </p:sp>
      <p:pic>
        <p:nvPicPr>
          <p:cNvPr id="8" name="Picture 7" descr="F5_temporal_saliency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1776815"/>
          </a:xfrm>
          <a:prstGeom prst="rect">
            <a:avLst/>
          </a:prstGeom>
        </p:spPr>
      </p:pic>
      <p:pic>
        <p:nvPicPr>
          <p:cNvPr id="9" name="Picture 8" descr="F6_sensor_importance_sampl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15808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Temporal Saliency (Attention Rollout over 51 timesteps)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Channel Importance (Omega × Saliency over 24 channels)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910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00">
                <a:solidFill>
                  <a:srgbClr val="333333"/>
                </a:solidFill>
                <a:latin typeface="Calibri"/>
              </a:rPr>
              <a:t>Wrist and Elbow channels dominate importance — consistent with physical gesture biomechanics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NATOPS — Frequency-Domain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20 / 28</a:t>
            </a:r>
          </a:p>
        </p:txBody>
      </p:sp>
      <p:pic>
        <p:nvPicPr>
          <p:cNvPr id="8" name="Picture 7" descr="F7_freq_importance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1608419"/>
          </a:xfrm>
          <a:prstGeom prst="rect">
            <a:avLst/>
          </a:prstGeom>
        </p:spPr>
      </p:pic>
      <p:pic>
        <p:nvPicPr>
          <p:cNvPr id="9" name="Picture 8" descr="F8_delta_heatmap_sampl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23001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Wavelet Band Importance (Approx + Detail levels)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Δ Heatmap: Sensor × Coefficient (where did TAGFC perturb?)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910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00">
                <a:solidFill>
                  <a:srgbClr val="333333"/>
                </a:solidFill>
                <a:latin typeface="Calibri"/>
              </a:rPr>
              <a:t>Low-frequency (coarse motion) wavelet bands dominate — gesture transitions are slow structural changes, not high-frequency noise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NATOPS — Omega Heatmap &amp;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21 / 28</a:t>
            </a:r>
          </a:p>
        </p:txBody>
      </p:sp>
      <p:pic>
        <p:nvPicPr>
          <p:cNvPr id="8" name="Picture 7" descr="F9_omega_heatmap_sampl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2302246"/>
          </a:xfrm>
          <a:prstGeom prst="rect">
            <a:avLst/>
          </a:prstGeom>
        </p:spPr>
      </p:pic>
      <p:pic>
        <p:nvPicPr>
          <p:cNvPr id="9" name="Picture 8" descr="F13_convergence_sampl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7582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Omega Weight Heatmap (Sensor × Coefficient)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80644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Optimisation Convergence (300 iterations, patience=25)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29107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00">
                <a:solidFill>
                  <a:srgbClr val="333333"/>
                </a:solidFill>
                <a:latin typeface="Calibri"/>
              </a:rPr>
              <a:t>Omega encodes both attention saliency and gradient importance — low-omega coefficients are targeted first, achieving sparse yet effective perturbations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NATOPS — Quantitative Results  (N = 30)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22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137160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" y="1207008"/>
            <a:ext cx="1298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9344" y="1188720"/>
            <a:ext cx="100584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1207008"/>
            <a:ext cx="932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Validity↑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188720"/>
            <a:ext cx="109728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207008"/>
            <a:ext cx="10241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Prox L1↓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0752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Prox L2↓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016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Prox L∞↓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79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5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Sparsity↑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38543" y="1188720"/>
            <a:ext cx="109728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19" y="1207008"/>
            <a:ext cx="10241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Coherence↓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44967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3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CF Conf↑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14232" y="1188720"/>
            <a:ext cx="960120" cy="3840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7" y="1207008"/>
            <a:ext cx="8869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RCF↓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591056"/>
            <a:ext cx="137160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1618488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E86A00"/>
                </a:solidFill>
                <a:latin typeface="Calibri"/>
              </a:rPr>
              <a:t>TAGFC (Ours)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9344" y="1591056"/>
            <a:ext cx="100584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1618488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0.867±0.346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24328" y="1591056"/>
            <a:ext cx="109728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0904" y="1618488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35.498±23.591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30752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67328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5.197±2.875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0016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E86A00"/>
                </a:solidFill>
                <a:latin typeface="Calibri"/>
              </a:rPr>
              <a:t>0.883±0.376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79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05855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0.000±0.001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38543" y="1591056"/>
            <a:ext cx="109728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19" y="1618488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E86A00"/>
                </a:solidFill>
                <a:latin typeface="Calibri"/>
              </a:rPr>
              <a:t>7.544±8.831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4967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81543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CC0000"/>
                </a:solidFill>
                <a:latin typeface="Calibri"/>
              </a:rPr>
              <a:t>0.705±0.383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14232" y="1591056"/>
            <a:ext cx="960120" cy="493776"/>
          </a:xfrm>
          <a:prstGeom prst="rect">
            <a:avLst/>
          </a:prstGeom>
          <a:solidFill>
            <a:srgbClr val="FFF0D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50807" y="1618488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E86A00"/>
                </a:solidFill>
                <a:latin typeface="Calibri"/>
              </a:rPr>
              <a:t>0.217±0.172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2121408"/>
            <a:ext cx="13716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176" y="214884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CoMTE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9344" y="2121408"/>
            <a:ext cx="10058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0" y="2148840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1.000±0.000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24328" y="2121408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60904" y="2148840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88.631±38.772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30752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67328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14.774±5.672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00016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36592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2.875±0.994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79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05855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0.917±0.054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38543" y="2121408"/>
            <a:ext cx="10972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19" y="2148840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42.904±27.531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44967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81543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1.000±0.000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14232" y="2121408"/>
            <a:ext cx="9601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0807" y="2148840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0.647±0.252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2651760"/>
            <a:ext cx="137160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5176" y="2679191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AB-CF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9344" y="2651760"/>
            <a:ext cx="100584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45920" y="2679191"/>
            <a:ext cx="932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1.000±0.000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24328" y="2651760"/>
            <a:ext cx="109728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60904" y="2679191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131.052±69.008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30752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67328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22.800±9.916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00016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36592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3.027±1.064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79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05855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0.882±0.083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38543" y="2651760"/>
            <a:ext cx="109728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75119" y="2679191"/>
            <a:ext cx="102412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43.471±25.968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44967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81543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1.000±0.000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714232" y="2651760"/>
            <a:ext cx="960120" cy="493776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750807" y="2679191"/>
            <a:ext cx="8869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050">
                <a:solidFill>
                  <a:srgbClr val="333333"/>
                </a:solidFill>
                <a:latin typeface="Calibri"/>
              </a:rPr>
              <a:t>1.027±0.411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00" y="3246120"/>
            <a:ext cx="1173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50">
                <a:solidFill>
                  <a:srgbClr val="333333"/>
                </a:solidFill>
                <a:latin typeface="Calibri"/>
              </a:rPr>
              <a:t>TAGFC wins 4/8 metrics (Prox L1/L2/L∞, Coherence, RCF) vs CoMTE (p&lt;0.0083) and 5/8 vs AB-CF.  CoMTE/AB-CF achieve Validity=1.0 via whole-sequence swap — trading proximity for flip.</a:t>
            </a:r>
          </a:p>
        </p:txBody>
      </p:sp>
      <p:pic>
        <p:nvPicPr>
          <p:cNvPr id="81" name="Picture 80" descr="F10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49039"/>
            <a:ext cx="10241280" cy="38736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Comparison &amp; Analysis — Wilcoxon Signed-Rank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50">
                <a:solidFill>
                  <a:srgbClr val="333333"/>
                </a:solidFill>
                <a:latin typeface="Calibri"/>
              </a:rPr>
              <a:t>Paired Wilcoxon signed-rank test  ·  Bonferroni-corrected α = 0.05/6 = 0.0083  ·  N=30 NATOPS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645920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554480"/>
            <a:ext cx="15727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92807" y="1536192"/>
            <a:ext cx="1417320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9384" y="1554480"/>
            <a:ext cx="1344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TAGFC vs CoMTE
W-stat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8416" y="1536192"/>
            <a:ext cx="1508760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554480"/>
            <a:ext cx="14356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TAGFC vs CoMTE
p-value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5464" y="1536192"/>
            <a:ext cx="548640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Sig?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22391" y="1536192"/>
            <a:ext cx="1417320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7" y="1554480"/>
            <a:ext cx="1344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TAGFC vs AB-CF
W-stat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7999" y="1536192"/>
            <a:ext cx="1508760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5" y="1554480"/>
            <a:ext cx="1435607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TAGFC vs AB-CF
p-value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5047" y="1536192"/>
            <a:ext cx="548640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3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00">
                <a:solidFill>
                  <a:srgbClr val="FFFFFF"/>
                </a:solidFill>
                <a:latin typeface="Calibri"/>
              </a:rPr>
              <a:t>Sig?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029968"/>
            <a:ext cx="16459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" y="2057400"/>
            <a:ext cx="1572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Validity 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92807" y="2029968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9384" y="2057400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28416" y="2029968"/>
            <a:ext cx="1508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4992" y="2057400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55464" y="2029968"/>
            <a:ext cx="5486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205740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22391" y="2029968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8967" y="2057400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7999" y="2029968"/>
            <a:ext cx="1508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94575" y="2057400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5047" y="2029968"/>
            <a:ext cx="5486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3" y="205740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5146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" y="2542032"/>
            <a:ext cx="1572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Proximity L1 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92807" y="2514600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9384" y="2542032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28416" y="251460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64992" y="2542032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55464" y="2514600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254203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22391" y="2514600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58967" y="2542032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7999" y="251460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94575" y="2542032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&lt;0.0001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85047" y="2514600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21623" y="254203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2999232"/>
            <a:ext cx="16459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5176" y="3026664"/>
            <a:ext cx="1572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Proximity L2 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92807" y="2999232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29384" y="3026664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28416" y="2999232"/>
            <a:ext cx="1508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64992" y="3026664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55464" y="2999232"/>
            <a:ext cx="5486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2040" y="302666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22391" y="2999232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58967" y="3026664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7999" y="2999232"/>
            <a:ext cx="1508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94575" y="3026664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&lt;0.0001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85047" y="2999232"/>
            <a:ext cx="5486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21623" y="302666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483864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511296"/>
            <a:ext cx="1572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Proximity L∞ 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92807" y="3483864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29384" y="3511296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328416" y="3483864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64992" y="3511296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0.0020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55464" y="3483864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92040" y="3511296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22391" y="3483864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58967" y="3511296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7999" y="3483864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94575" y="3511296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&lt;0.0001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85047" y="3483864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21623" y="3511296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3968496"/>
            <a:ext cx="16459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3995928"/>
            <a:ext cx="1572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Sparsity 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92807" y="3968496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29384" y="3995928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328416" y="3968496"/>
            <a:ext cx="1508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64992" y="3995928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&lt;0.0001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855464" y="3968496"/>
            <a:ext cx="5486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92040" y="399592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22391" y="3968496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58967" y="3995928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57999" y="3968496"/>
            <a:ext cx="1508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94575" y="3995928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&lt;0.0001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85047" y="3968496"/>
            <a:ext cx="5486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21623" y="3995928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4453128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5176" y="4480560"/>
            <a:ext cx="1572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Coherence 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92807" y="4453128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929384" y="4480560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328416" y="4453128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64992" y="4480560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55464" y="4453128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892040" y="448056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22391" y="4453128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58967" y="4480560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57999" y="4453128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94575" y="4480560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85047" y="4453128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21623" y="4480560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8600" y="4937760"/>
            <a:ext cx="16459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5176" y="4965192"/>
            <a:ext cx="1572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CF Confidence ↑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92807" y="4937760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929384" y="4965192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225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28416" y="4937760"/>
            <a:ext cx="1508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64992" y="4965192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855464" y="4937760"/>
            <a:ext cx="5486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892040" y="496519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22391" y="4937760"/>
            <a:ext cx="141732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458967" y="4965192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225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857999" y="4937760"/>
            <a:ext cx="15087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94575" y="4965192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85047" y="4937760"/>
            <a:ext cx="5486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21623" y="4965192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42239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449824"/>
            <a:ext cx="1572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RCF 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892807" y="5422392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929384" y="5449824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18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328416" y="5422392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364992" y="5449824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0.0005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855464" y="5422392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892040" y="544982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22391" y="5422392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458967" y="5449824"/>
            <a:ext cx="13441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857999" y="5422392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894575" y="5449824"/>
            <a:ext cx="1435607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50">
                <a:solidFill>
                  <a:srgbClr val="333333"/>
                </a:solidFill>
                <a:latin typeface="Calibri"/>
              </a:rPr>
              <a:t>&lt;0.0001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385047" y="5422392"/>
            <a:ext cx="548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421623" y="5449824"/>
            <a:ext cx="475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50">
                <a:solidFill>
                  <a:srgbClr val="008800"/>
                </a:solidFill>
                <a:latin typeface="Calibri"/>
              </a:rPr>
              <a:t>✓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4320" y="61264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300">
                <a:solidFill>
                  <a:srgbClr val="005B96"/>
                </a:solidFill>
                <a:latin typeface="Calibri"/>
              </a:rPr>
              <a:t>All 8 metrics show statistically significant differences (p &lt; 0.0083) after Bonferroni correction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Proximity–Validity Trade-off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50">
                <a:solidFill>
                  <a:srgbClr val="333333"/>
                </a:solidFill>
                <a:latin typeface="Calibri"/>
              </a:rPr>
              <a:t>Ideal CF method: high validity (y-axis) AND low proximity (x-axis → left) — upper-left corner is optimal</a:t>
            </a:r>
          </a:p>
        </p:txBody>
      </p:sp>
      <p:pic>
        <p:nvPicPr>
          <p:cNvPr id="9" name="Picture 8" descr="F11_proximity_valid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326880" cy="6955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61722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250">
                <a:solidFill>
                  <a:srgbClr val="333333"/>
                </a:solidFill>
                <a:latin typeface="Calibri"/>
              </a:rPr>
              <a:t>TAGFC occupies a distinct region: lower L2 proximity than CoMTE/AB-CF while maintaining competitive validity — demonstrating the benefit of targeted wavelet perturbation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Comparison &amp; Analysis — 21-Dimension Metric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300">
                <a:solidFill>
                  <a:srgbClr val="333333"/>
                </a:solidFill>
                <a:latin typeface="Calibri"/>
              </a:rPr>
              <a:t>Comprehensive comparison across all dataset × metric combinations (AQI India + NATOPS, 8 metrics each, both baselines)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1371600" cy="4754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55448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9344" y="1536192"/>
            <a:ext cx="1463040" cy="475488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155448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FFFFFF"/>
                </a:solidFill>
                <a:latin typeface="Calibri"/>
              </a:rPr>
              <a:t>AQI
TAGFC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1528" y="1536192"/>
            <a:ext cx="1463040" cy="475488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155448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FFFFFF"/>
                </a:solidFill>
                <a:latin typeface="Calibri"/>
              </a:rPr>
              <a:t>AQI
CoMTE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3712" y="1536192"/>
            <a:ext cx="1463040" cy="475488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55448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FFFFFF"/>
                </a:solidFill>
                <a:latin typeface="Calibri"/>
              </a:rPr>
              <a:t>AQI
AB-CF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25896" y="1536192"/>
            <a:ext cx="1463040" cy="475488"/>
          </a:xfrm>
          <a:prstGeom prst="rect">
            <a:avLst/>
          </a:prstGeom>
          <a:solidFill>
            <a:srgbClr val="00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62472" y="155448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FFFFFF"/>
                </a:solidFill>
                <a:latin typeface="Calibri"/>
              </a:rPr>
              <a:t>NATOPS
TAGFC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79" y="1536192"/>
            <a:ext cx="1463040" cy="475488"/>
          </a:xfrm>
          <a:prstGeom prst="rect">
            <a:avLst/>
          </a:prstGeom>
          <a:solidFill>
            <a:srgbClr val="00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4655" y="155448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FFFFFF"/>
                </a:solidFill>
                <a:latin typeface="Calibri"/>
              </a:rPr>
              <a:t>NATOPS
CoMTE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263" y="1536192"/>
            <a:ext cx="1463040" cy="475488"/>
          </a:xfrm>
          <a:prstGeom prst="rect">
            <a:avLst/>
          </a:prstGeom>
          <a:solidFill>
            <a:srgbClr val="005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39" y="155448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050">
                <a:solidFill>
                  <a:srgbClr val="FFFFFF"/>
                </a:solidFill>
                <a:latin typeface="Calibri"/>
              </a:rPr>
              <a:t>NATOPS
AB-CF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029968"/>
            <a:ext cx="137160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" y="205740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333333"/>
                </a:solidFill>
                <a:latin typeface="Calibri"/>
              </a:rPr>
              <a:t>Validity 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9344" y="2029968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205740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1.000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81528" y="2029968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18104" y="205740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0.167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3712" y="2029968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205740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0.133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25896" y="2029968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62472" y="205740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0.867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2029968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205740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1.000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70263" y="2029968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39" y="205740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551176"/>
            <a:ext cx="13716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" y="2578608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333333"/>
                </a:solidFill>
                <a:latin typeface="Calibri"/>
              </a:rPr>
              <a:t>Prox L1 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09344" y="2551176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45920" y="257860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10.59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81528" y="2551176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18104" y="257860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47.14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53712" y="2551176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0288" y="257860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49.31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25896" y="2551176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62472" y="257860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35.50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2551176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34655" y="257860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88.63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70263" y="2551176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6839" y="257860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131.05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3072384"/>
            <a:ext cx="137160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5176" y="3099815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333333"/>
                </a:solidFill>
                <a:latin typeface="Calibri"/>
              </a:rPr>
              <a:t>Prox L2 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9344" y="3072384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45920" y="3099815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2.030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81528" y="3072384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18104" y="3099815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6.083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53712" y="3072384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90288" y="3099815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6.329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25896" y="3072384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62472" y="3099815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5.197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79" y="3072384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34655" y="3099815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14.774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0263" y="3072384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06839" y="3099815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22.800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593592"/>
            <a:ext cx="13716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21024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333333"/>
                </a:solidFill>
                <a:latin typeface="Calibri"/>
              </a:rPr>
              <a:t>Prox L∞ 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09344" y="3593592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645920" y="362102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1.304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81528" y="3593592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18104" y="362102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2.326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53712" y="3593592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90288" y="362102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2.486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25896" y="3593592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62472" y="362102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0.883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98079" y="3593592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34655" y="362102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2.875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70263" y="3593592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06839" y="3621024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3.027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4114800"/>
            <a:ext cx="137160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4142231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333333"/>
                </a:solidFill>
                <a:latin typeface="Calibri"/>
              </a:rPr>
              <a:t>Sparsity 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09344" y="4114800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0" y="4142231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0.000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81528" y="4114800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18104" y="4142231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0.208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53712" y="4114800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90288" y="4142231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0.173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25896" y="4114800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62472" y="4142231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0.000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79" y="4114800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34655" y="4142231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0.917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70263" y="4114800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06839" y="4142231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0.882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4636008"/>
            <a:ext cx="13716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65176" y="4663440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333333"/>
                </a:solidFill>
                <a:latin typeface="Calibri"/>
              </a:rPr>
              <a:t>Coherence 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609344" y="4636008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645920" y="466344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0.132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81528" y="4636008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118104" y="466344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1.042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53712" y="4636008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90288" y="466344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1.044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25896" y="4636008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062472" y="466344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7.544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98079" y="4636008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34655" y="466344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42.904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70263" y="4636008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006839" y="4663440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43.471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28600" y="5157216"/>
            <a:ext cx="137160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5176" y="5184648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333333"/>
                </a:solidFill>
                <a:latin typeface="Calibri"/>
              </a:rPr>
              <a:t>CF Conf ↑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09344" y="5157216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645920" y="518464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0.955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081528" y="5157216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118104" y="518464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0.132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53712" y="5157216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90288" y="518464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0.106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025896" y="5157216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062472" y="518464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0.705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98079" y="5157216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534655" y="518464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1.000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970263" y="5157216"/>
            <a:ext cx="1463040" cy="48463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006839" y="5184648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1.000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678424"/>
            <a:ext cx="13716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705856"/>
            <a:ext cx="12984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333333"/>
                </a:solidFill>
                <a:latin typeface="Calibri"/>
              </a:rPr>
              <a:t>RCF ↓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609344" y="5678424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645920" y="5705856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0.349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081528" y="5678424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118104" y="5705856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0.920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553712" y="5678424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590288" y="5705856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0.947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025896" y="5678424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062472" y="5705856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100">
                <a:solidFill>
                  <a:srgbClr val="CC0000"/>
                </a:solidFill>
                <a:latin typeface="Calibri"/>
              </a:rPr>
              <a:t>0.217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498079" y="5678424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534655" y="5705856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0.647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0263" y="5678424"/>
            <a:ext cx="146304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006839" y="5705856"/>
            <a:ext cx="1389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100">
                <a:solidFill>
                  <a:srgbClr val="333333"/>
                </a:solidFill>
                <a:latin typeface="Calibri"/>
              </a:rPr>
              <a:t>1.027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sz="1150">
                <a:solidFill>
                  <a:srgbClr val="333333"/>
                </a:solidFill>
                <a:latin typeface="Calibri"/>
              </a:rPr>
              <a:t>Red bold = TAGFC best value in that dataset column  ·  TAGFC leads in proximity, coherence, CF confidence, and RCF across both datasets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Key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26 /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48640" cy="5943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2344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Frequency-Domain CF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5727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First MTS counterfactual method to operate in the Haar wavelet coefficient space — enabling targeted perturbation of specific time-frequency bands (slow trends vs. fast oscillations).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13432"/>
            <a:ext cx="548640" cy="5943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40487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134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Attention-Guided Saliency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651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Multi-layer Attention Rollout provides a principled, model-internal saliency signal that guides the omega weighting — directing perturbation cost towards semantically important coefficients.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92424"/>
            <a:ext cx="548640" cy="5943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48386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92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Cross-Sensor Coherence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307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Mahalanobis-based L_cross term enforces that counterfactual changes respect the empirical sensor correlation structure, producing physically plausible explanations.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71416"/>
            <a:ext cx="548640" cy="5943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5628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Exact Sparsity via Proximal GD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09744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Soft-thresholding in the Proximal Gradient Descent step achieves exact L1 sparsity (true zeros) rather than approximate near-zero values — yielding interpretable explanations.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50408"/>
            <a:ext cx="548640" cy="594360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6418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400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5504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3366"/>
                </a:solidFill>
                <a:latin typeface="Calibri"/>
              </a:rPr>
              <a:t>Empirical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88873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Demonstrated on 2 real-world datasets (AQI India: TAGFC wins 7/8 metrics; NATOPS: wins 4–5/8) against 4 baselines with Wilcoxon + Bonferroni statistical testing.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40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638544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900">
                <a:solidFill>
                  <a:srgbClr val="FFFFFF"/>
                </a:solidFill>
                <a:latin typeface="Calibri"/>
              </a:rPr>
              <a:t>TAGFC — Attention-Guided Frequency-Domain Counterfactual Explanations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3854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i="0" sz="900">
                <a:solidFill>
                  <a:srgbClr val="FFFFFF"/>
                </a:solidFill>
                <a:latin typeface="Calibri"/>
              </a:rPr>
              <a:t>27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005B96"/>
                </a:solidFill>
                <a:latin typeface="Calibri"/>
              </a:rPr>
              <a:t>Current Limitations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64208"/>
            <a:ext cx="54864" cy="566928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8249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Validity not 100% on NATOPS (0.867) — proximal-GD can fail to flip the classifier within 300 iters for hard 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14016"/>
            <a:ext cx="54864" cy="566928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3230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CoMTE/AB-CF achieve higher sparsity via whole-channel swap — TAGFC perturbation is distributed across many coefficients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63824"/>
            <a:ext cx="54864" cy="566928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82112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N=30 for NATOPS evaluation — Wilcoxon power improves with N=200 (planned)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13632"/>
            <a:ext cx="54864" cy="566928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333333"/>
                </a:solidFill>
                <a:latin typeface="Calibri"/>
              </a:rPr>
              <a:t>No ablation study reported — impact of each of the 4 objective terms needs quantification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234440"/>
            <a:ext cx="36576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005B96"/>
                </a:solidFill>
                <a:latin typeface="Calibri"/>
              </a:rPr>
              <a:t>Future Directions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64208"/>
            <a:ext cx="292608" cy="29260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6824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68249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333333"/>
                </a:solidFill>
                <a:latin typeface="Calibri"/>
              </a:rPr>
              <a:t>Scale NATOPS to N=200; run CMAPSS FD001 with N=200 for full 3-dataset 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304288"/>
            <a:ext cx="292608" cy="29260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2257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2257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333333"/>
                </a:solidFill>
                <a:latin typeface="Calibri"/>
              </a:rPr>
              <a:t>Ablation study: noRollout (ω=1), noWavelet (raw X), noCross (λ₂=0), noManifold (λ₃=0)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944368"/>
            <a:ext cx="292608" cy="29260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6265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96265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333333"/>
                </a:solidFill>
                <a:latin typeface="Calibri"/>
              </a:rPr>
              <a:t>Extend to multivariate regression (RUL prediction) with continuous CF targets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584448"/>
            <a:ext cx="292608" cy="29260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02735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3602735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333333"/>
                </a:solidFill>
                <a:latin typeface="Calibri"/>
              </a:rPr>
              <a:t>Replace Haar DWT with learnable wavelet (e.g., LiftingNet) for data-adaptive frequency decomposition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224528"/>
            <a:ext cx="292608" cy="29260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2428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424281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333333"/>
                </a:solidFill>
                <a:latin typeface="Calibri"/>
              </a:rPr>
              <a:t>Real-time deployment: streaming counterfactuals for online sensor monitoring dashboards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864608"/>
            <a:ext cx="292608" cy="292608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88289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488289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50">
                <a:solidFill>
                  <a:srgbClr val="333333"/>
                </a:solidFill>
                <a:latin typeface="Calibri"/>
              </a:rPr>
              <a:t>Submit to KDD MiLeTS workshop / IEEE TNNLS journal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11274552" cy="64008"/>
          </a:xfrm>
          <a:prstGeom prst="rect">
            <a:avLst/>
          </a:prstGeom>
          <a:solidFill>
            <a:srgbClr val="E8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540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400">
                <a:solidFill>
                  <a:srgbClr val="ADD8E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CCDDEE"/>
                </a:solidFill>
                <a:latin typeface="Calibri"/>
              </a:rPr>
              <a:t>Avinash Yadav  (244101008)  ·  avinashy@iitg.ac.in
Vaibhav Wankar  (244101061)  ·  w.vaibhav@iitg.ac.in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AABBCC"/>
                </a:solidFill>
                <a:latin typeface="Calibri"/>
              </a:rPr>
              <a:t>Guide: Dr. Rashmi Dutta Baruah  ·  Dept. of CSE  ·  IIT Guwahati  ·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300">
                <a:solidFill>
                  <a:srgbClr val="88AACC"/>
                </a:solidFill>
                <a:latin typeface="Calibri"/>
              </a:rPr>
              <a:t>TAGFC — Transformer Attention-Guided Frequency Counterfactual  ·  M.Tech 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